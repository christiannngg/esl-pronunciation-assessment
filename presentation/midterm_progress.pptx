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a and data" id="{9ddfda86-8c47-9d1b-37a3-1820d6ed1584}">
          <p14:sldIdLst>
            <p14:sldId id="256"/>
            <p14:sldId id="257"/>
            <p14:sldId id="258"/>
            <p14:sldId id="259"/>
          </p14:sldIdLst>
        </p14:section>
        <p14:section name="Progress" id="{b3d917f5-e0fb-b160-de33-0ee2e40571a7}">
          <p14:sldIdLst>
            <p14:sldId id="260"/>
            <p14:sldId id="261"/>
            <p14:sldId id="262"/>
          </p14:sldIdLst>
        </p14:section>
        <p14:section name="Next" id="{b6532dde-b620-8b72-cec7-0967da4048e9}">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yourself and the project in one sentence, then move to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is a deep learning system that scores English pronunciation for ESL learners at three levels: whole sentences, words, and phonemes, the smallest units of sound. It also classifies phoneme errors as substitutions, deletions, or additions. I'm asking three questions: do pretrained speech models beat handcrafted features? Does multi-task learning help? And does it generalize to speakers it has never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 two datasets. SpeechOcean762 has 5,000 recorded sentences from 250 Mandarin-speaking learners of English, half children and half adults, scored by experts. L2-ARCTIC has 24 learners from six language backgrounds, with annotated pronunciation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of the sounds in L2-ARCTIC are errors, so errors are rare, and that shapes everything that follows. Because this is a benchmark project, I was also asked to find each model's weaknesses and fix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three stages on the same speakers and the same test set. First, a traditional baseline: classic audio features called MFCCs with standard machine learning. Second, WavLM, a speech model pretrained on tens of thousands of hours of audio, kept frozen with small prediction layers on top. Third, fine-tuning the whole WavLM model for this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phoneme error type, scored with macro-F1 where 1.0 is perfect, the baseline got 0.33, frozen WavLM 0.52, and fine-tuned 0.58. So pretrained speech models clearly beat handcrafted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this is a benchmark, at each stage I looked for weaknesses and fixed them. The baseline called almost every sound correct, since most are. Weighting the rare errors and tuning the decision threshold raised the score to 0.40. In stage two, wav2vec2 looked weak only because I was reading the wrong internal layer; switching layers gained 0.11. In stage three, the model was memorizing training examples. A lower learning rate fixed its overconfident predictions. But for sentence scores, closing the memorization gap did not help on new speakers, so that wasn't the real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multi-task learning: one shared model with a head for each task. I'll test whether learning the tasks together helps or causes negative transfer, and fix it if it does. One known weakness to tackle first is that the model predicts the worst sounds as almost fine. Then I'll evaluate on unseen speakers with ablations and build a React web app with color-coded feedback on each word and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ULL_IMAGE">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Waveform bar 1"/>
          <p:cNvSpPr/>
          <p:nvPr/>
        </p:nvSpPr>
        <p:spPr>
          <a:xfrm>
            <a:off x="731520" y="5509260"/>
            <a:ext cx="118872" cy="228600"/>
          </a:xfrm>
          <a:prstGeom prst="roundRect">
            <a:avLst>
              <a:gd name="adj" fmla="val 50000"/>
            </a:avLst>
          </a:prstGeom>
          <a:solidFill>
            <a:schemeClr val="accent1">
              <a:alpha val="65000"/>
            </a:schemeClr>
          </a:solidFill>
          <a:ln/>
        </p:spPr>
      </p:sp>
      <p:sp>
        <p:nvSpPr>
          <p:cNvPr id="3" name="Waveform bar 2"/>
          <p:cNvSpPr/>
          <p:nvPr/>
        </p:nvSpPr>
        <p:spPr>
          <a:xfrm>
            <a:off x="955548" y="5293661"/>
            <a:ext cx="118872" cy="659799"/>
          </a:xfrm>
          <a:prstGeom prst="roundRect">
            <a:avLst>
              <a:gd name="adj" fmla="val 50000"/>
            </a:avLst>
          </a:prstGeom>
          <a:solidFill>
            <a:schemeClr val="accent1">
              <a:alpha val="65000"/>
            </a:schemeClr>
          </a:solidFill>
          <a:ln/>
        </p:spPr>
      </p:sp>
      <p:sp>
        <p:nvSpPr>
          <p:cNvPr id="4" name="Waveform bar 3"/>
          <p:cNvSpPr/>
          <p:nvPr/>
        </p:nvSpPr>
        <p:spPr>
          <a:xfrm>
            <a:off x="1179576" y="5137861"/>
            <a:ext cx="118872" cy="971398"/>
          </a:xfrm>
          <a:prstGeom prst="roundRect">
            <a:avLst>
              <a:gd name="adj" fmla="val 50000"/>
            </a:avLst>
          </a:prstGeom>
          <a:solidFill>
            <a:schemeClr val="accent1">
              <a:alpha val="65000"/>
            </a:schemeClr>
          </a:solidFill>
          <a:ln/>
        </p:spPr>
      </p:sp>
      <p:sp>
        <p:nvSpPr>
          <p:cNvPr id="5" name="Waveform bar 4"/>
          <p:cNvSpPr/>
          <p:nvPr/>
        </p:nvSpPr>
        <p:spPr>
          <a:xfrm>
            <a:off x="1403604" y="5080995"/>
            <a:ext cx="118872" cy="1085130"/>
          </a:xfrm>
          <a:prstGeom prst="roundRect">
            <a:avLst>
              <a:gd name="adj" fmla="val 50000"/>
            </a:avLst>
          </a:prstGeom>
          <a:solidFill>
            <a:schemeClr val="accent1">
              <a:alpha val="65000"/>
            </a:schemeClr>
          </a:solidFill>
          <a:ln/>
        </p:spPr>
      </p:sp>
      <p:sp>
        <p:nvSpPr>
          <p:cNvPr id="6" name="Waveform bar 5"/>
          <p:cNvSpPr/>
          <p:nvPr/>
        </p:nvSpPr>
        <p:spPr>
          <a:xfrm>
            <a:off x="1627632" y="5128430"/>
            <a:ext cx="118872" cy="990260"/>
          </a:xfrm>
          <a:prstGeom prst="roundRect">
            <a:avLst>
              <a:gd name="adj" fmla="val 50000"/>
            </a:avLst>
          </a:prstGeom>
          <a:solidFill>
            <a:schemeClr val="accent1">
              <a:alpha val="65000"/>
            </a:schemeClr>
          </a:solidFill>
          <a:ln/>
        </p:spPr>
      </p:sp>
      <p:sp>
        <p:nvSpPr>
          <p:cNvPr id="7" name="Waveform bar 6"/>
          <p:cNvSpPr/>
          <p:nvPr/>
        </p:nvSpPr>
        <p:spPr>
          <a:xfrm>
            <a:off x="1851660" y="5251003"/>
            <a:ext cx="118872" cy="745114"/>
          </a:xfrm>
          <a:prstGeom prst="roundRect">
            <a:avLst>
              <a:gd name="adj" fmla="val 50000"/>
            </a:avLst>
          </a:prstGeom>
          <a:solidFill>
            <a:schemeClr val="accent1">
              <a:alpha val="65000"/>
            </a:schemeClr>
          </a:solidFill>
          <a:ln/>
        </p:spPr>
      </p:sp>
      <p:sp>
        <p:nvSpPr>
          <p:cNvPr id="8" name="Waveform bar 7"/>
          <p:cNvSpPr/>
          <p:nvPr/>
        </p:nvSpPr>
        <p:spPr>
          <a:xfrm>
            <a:off x="2075688" y="5396769"/>
            <a:ext cx="118872" cy="453582"/>
          </a:xfrm>
          <a:prstGeom prst="roundRect">
            <a:avLst>
              <a:gd name="adj" fmla="val 50000"/>
            </a:avLst>
          </a:prstGeom>
          <a:solidFill>
            <a:schemeClr val="accent1">
              <a:alpha val="65000"/>
            </a:schemeClr>
          </a:solidFill>
          <a:ln/>
        </p:spPr>
      </p:sp>
      <p:sp>
        <p:nvSpPr>
          <p:cNvPr id="9" name="Waveform bar 8"/>
          <p:cNvSpPr/>
          <p:nvPr/>
        </p:nvSpPr>
        <p:spPr>
          <a:xfrm>
            <a:off x="2299716" y="5507689"/>
            <a:ext cx="118872" cy="231743"/>
          </a:xfrm>
          <a:prstGeom prst="roundRect">
            <a:avLst>
              <a:gd name="adj" fmla="val 50000"/>
            </a:avLst>
          </a:prstGeom>
          <a:solidFill>
            <a:schemeClr val="accent1">
              <a:alpha val="65000"/>
            </a:schemeClr>
          </a:solidFill>
          <a:ln/>
        </p:spPr>
      </p:sp>
      <p:sp>
        <p:nvSpPr>
          <p:cNvPr id="10" name="Waveform bar 9"/>
          <p:cNvSpPr/>
          <p:nvPr/>
        </p:nvSpPr>
        <p:spPr>
          <a:xfrm>
            <a:off x="2523744" y="5462693"/>
            <a:ext cx="118872" cy="321733"/>
          </a:xfrm>
          <a:prstGeom prst="roundRect">
            <a:avLst>
              <a:gd name="adj" fmla="val 50000"/>
            </a:avLst>
          </a:prstGeom>
          <a:solidFill>
            <a:schemeClr val="accent1">
              <a:alpha val="65000"/>
            </a:schemeClr>
          </a:solidFill>
          <a:ln/>
        </p:spPr>
      </p:sp>
      <p:sp>
        <p:nvSpPr>
          <p:cNvPr id="11" name="Waveform bar 10"/>
          <p:cNvSpPr/>
          <p:nvPr/>
        </p:nvSpPr>
        <p:spPr>
          <a:xfrm>
            <a:off x="2747772" y="5493086"/>
            <a:ext cx="118872" cy="260948"/>
          </a:xfrm>
          <a:prstGeom prst="roundRect">
            <a:avLst>
              <a:gd name="adj" fmla="val 50000"/>
            </a:avLst>
          </a:prstGeom>
          <a:solidFill>
            <a:schemeClr val="accent1">
              <a:alpha val="65000"/>
            </a:schemeClr>
          </a:solidFill>
          <a:ln/>
        </p:spPr>
      </p:sp>
      <p:sp>
        <p:nvSpPr>
          <p:cNvPr id="12" name="Waveform bar 11"/>
          <p:cNvSpPr/>
          <p:nvPr/>
        </p:nvSpPr>
        <p:spPr>
          <a:xfrm>
            <a:off x="2971800" y="5445918"/>
            <a:ext cx="118872" cy="355285"/>
          </a:xfrm>
          <a:prstGeom prst="roundRect">
            <a:avLst>
              <a:gd name="adj" fmla="val 50000"/>
            </a:avLst>
          </a:prstGeom>
          <a:solidFill>
            <a:schemeClr val="accent1">
              <a:alpha val="65000"/>
            </a:schemeClr>
          </a:solidFill>
          <a:ln/>
        </p:spPr>
      </p:sp>
      <p:sp>
        <p:nvSpPr>
          <p:cNvPr id="13" name="Waveform bar 12"/>
          <p:cNvSpPr/>
          <p:nvPr/>
        </p:nvSpPr>
        <p:spPr>
          <a:xfrm>
            <a:off x="3195828" y="5365185"/>
            <a:ext cx="118872" cy="516751"/>
          </a:xfrm>
          <a:prstGeom prst="roundRect">
            <a:avLst>
              <a:gd name="adj" fmla="val 50000"/>
            </a:avLst>
          </a:prstGeom>
          <a:solidFill>
            <a:schemeClr val="accent1">
              <a:alpha val="65000"/>
            </a:schemeClr>
          </a:solidFill>
          <a:ln/>
        </p:spPr>
      </p:sp>
      <p:sp>
        <p:nvSpPr>
          <p:cNvPr id="14" name="Waveform bar 13"/>
          <p:cNvSpPr/>
          <p:nvPr/>
        </p:nvSpPr>
        <p:spPr>
          <a:xfrm>
            <a:off x="3419856" y="5333527"/>
            <a:ext cx="118872" cy="580066"/>
          </a:xfrm>
          <a:prstGeom prst="roundRect">
            <a:avLst>
              <a:gd name="adj" fmla="val 50000"/>
            </a:avLst>
          </a:prstGeom>
          <a:solidFill>
            <a:schemeClr val="accent1">
              <a:alpha val="65000"/>
            </a:schemeClr>
          </a:solidFill>
          <a:ln/>
        </p:spPr>
      </p:sp>
      <p:sp>
        <p:nvSpPr>
          <p:cNvPr id="15" name="Waveform bar 14"/>
          <p:cNvSpPr/>
          <p:nvPr/>
        </p:nvSpPr>
        <p:spPr>
          <a:xfrm>
            <a:off x="3643884" y="5383322"/>
            <a:ext cx="118872" cy="480475"/>
          </a:xfrm>
          <a:prstGeom prst="roundRect">
            <a:avLst>
              <a:gd name="adj" fmla="val 50000"/>
            </a:avLst>
          </a:prstGeom>
          <a:solidFill>
            <a:schemeClr val="accent1">
              <a:alpha val="65000"/>
            </a:schemeClr>
          </a:solidFill>
          <a:ln/>
        </p:spPr>
      </p:sp>
      <p:sp>
        <p:nvSpPr>
          <p:cNvPr id="16" name="Waveform bar 15"/>
          <p:cNvSpPr/>
          <p:nvPr/>
        </p:nvSpPr>
        <p:spPr>
          <a:xfrm>
            <a:off x="3867912" y="5503140"/>
            <a:ext cx="118872" cy="240840"/>
          </a:xfrm>
          <a:prstGeom prst="roundRect">
            <a:avLst>
              <a:gd name="adj" fmla="val 50000"/>
            </a:avLst>
          </a:prstGeom>
          <a:solidFill>
            <a:schemeClr val="accent1">
              <a:alpha val="65000"/>
            </a:schemeClr>
          </a:solidFill>
          <a:ln/>
        </p:spPr>
      </p:sp>
      <p:sp>
        <p:nvSpPr>
          <p:cNvPr id="17" name="Waveform bar 16"/>
          <p:cNvSpPr/>
          <p:nvPr/>
        </p:nvSpPr>
        <p:spPr>
          <a:xfrm>
            <a:off x="4091940" y="5321389"/>
            <a:ext cx="118872" cy="604342"/>
          </a:xfrm>
          <a:prstGeom prst="roundRect">
            <a:avLst>
              <a:gd name="adj" fmla="val 50000"/>
            </a:avLst>
          </a:prstGeom>
          <a:solidFill>
            <a:schemeClr val="accent1">
              <a:alpha val="65000"/>
            </a:schemeClr>
          </a:solidFill>
          <a:ln/>
        </p:spPr>
      </p:sp>
      <p:sp>
        <p:nvSpPr>
          <p:cNvPr id="18" name="Waveform bar 17"/>
          <p:cNvSpPr/>
          <p:nvPr/>
        </p:nvSpPr>
        <p:spPr>
          <a:xfrm>
            <a:off x="4315968" y="5145059"/>
            <a:ext cx="118872" cy="957002"/>
          </a:xfrm>
          <a:prstGeom prst="roundRect">
            <a:avLst>
              <a:gd name="adj" fmla="val 50000"/>
            </a:avLst>
          </a:prstGeom>
          <a:solidFill>
            <a:schemeClr val="accent1">
              <a:alpha val="65000"/>
            </a:schemeClr>
          </a:solidFill>
          <a:ln/>
        </p:spPr>
      </p:sp>
      <p:sp>
        <p:nvSpPr>
          <p:cNvPr id="19" name="Waveform bar 18"/>
          <p:cNvSpPr/>
          <p:nvPr/>
        </p:nvSpPr>
        <p:spPr>
          <a:xfrm>
            <a:off x="4539996" y="5032272"/>
            <a:ext cx="118872" cy="1182577"/>
          </a:xfrm>
          <a:prstGeom prst="roundRect">
            <a:avLst>
              <a:gd name="adj" fmla="val 50000"/>
            </a:avLst>
          </a:prstGeom>
          <a:solidFill>
            <a:schemeClr val="accent1">
              <a:alpha val="65000"/>
            </a:schemeClr>
          </a:solidFill>
          <a:ln/>
        </p:spPr>
      </p:sp>
      <p:sp>
        <p:nvSpPr>
          <p:cNvPr id="20" name="Waveform bar 19"/>
          <p:cNvSpPr/>
          <p:nvPr/>
        </p:nvSpPr>
        <p:spPr>
          <a:xfrm>
            <a:off x="4764024" y="5023106"/>
            <a:ext cx="118872" cy="1200908"/>
          </a:xfrm>
          <a:prstGeom prst="roundRect">
            <a:avLst>
              <a:gd name="adj" fmla="val 50000"/>
            </a:avLst>
          </a:prstGeom>
          <a:solidFill>
            <a:schemeClr val="accent1">
              <a:alpha val="65000"/>
            </a:schemeClr>
          </a:solidFill>
          <a:ln/>
        </p:spPr>
      </p:sp>
      <p:sp>
        <p:nvSpPr>
          <p:cNvPr id="21" name="Waveform bar 20"/>
          <p:cNvSpPr/>
          <p:nvPr/>
        </p:nvSpPr>
        <p:spPr>
          <a:xfrm>
            <a:off x="4988052" y="5124826"/>
            <a:ext cx="118872" cy="997468"/>
          </a:xfrm>
          <a:prstGeom prst="roundRect">
            <a:avLst>
              <a:gd name="adj" fmla="val 50000"/>
            </a:avLst>
          </a:prstGeom>
          <a:solidFill>
            <a:schemeClr val="accent1">
              <a:alpha val="65000"/>
            </a:schemeClr>
          </a:solidFill>
          <a:ln/>
        </p:spPr>
      </p:sp>
      <p:sp>
        <p:nvSpPr>
          <p:cNvPr id="22" name="Waveform bar 21"/>
          <p:cNvSpPr/>
          <p:nvPr/>
        </p:nvSpPr>
        <p:spPr>
          <a:xfrm>
            <a:off x="5212080" y="5308879"/>
            <a:ext cx="118872" cy="629362"/>
          </a:xfrm>
          <a:prstGeom prst="roundRect">
            <a:avLst>
              <a:gd name="adj" fmla="val 50000"/>
            </a:avLst>
          </a:prstGeom>
          <a:solidFill>
            <a:schemeClr val="accent1">
              <a:alpha val="65000"/>
            </a:schemeClr>
          </a:solidFill>
          <a:ln/>
        </p:spPr>
      </p:sp>
      <p:sp>
        <p:nvSpPr>
          <p:cNvPr id="23" name="Waveform bar 22"/>
          <p:cNvSpPr/>
          <p:nvPr/>
        </p:nvSpPr>
        <p:spPr>
          <a:xfrm>
            <a:off x="5436108" y="5497723"/>
            <a:ext cx="118872" cy="251674"/>
          </a:xfrm>
          <a:prstGeom prst="roundRect">
            <a:avLst>
              <a:gd name="adj" fmla="val 50000"/>
            </a:avLst>
          </a:prstGeom>
          <a:solidFill>
            <a:schemeClr val="accent1">
              <a:alpha val="65000"/>
            </a:schemeClr>
          </a:solidFill>
          <a:ln/>
        </p:spPr>
      </p:sp>
      <p:sp>
        <p:nvSpPr>
          <p:cNvPr id="24" name="Waveform bar 23"/>
          <p:cNvSpPr/>
          <p:nvPr/>
        </p:nvSpPr>
        <p:spPr>
          <a:xfrm>
            <a:off x="5660136" y="5319140"/>
            <a:ext cx="118872" cy="608839"/>
          </a:xfrm>
          <a:prstGeom prst="roundRect">
            <a:avLst>
              <a:gd name="adj" fmla="val 50000"/>
            </a:avLst>
          </a:prstGeom>
          <a:solidFill>
            <a:schemeClr val="accent1">
              <a:alpha val="65000"/>
            </a:schemeClr>
          </a:solidFill>
          <a:ln/>
        </p:spPr>
      </p:sp>
      <p:sp>
        <p:nvSpPr>
          <p:cNvPr id="25" name="Waveform bar 24"/>
          <p:cNvSpPr/>
          <p:nvPr/>
        </p:nvSpPr>
        <p:spPr>
          <a:xfrm>
            <a:off x="5884164" y="5220423"/>
            <a:ext cx="118872" cy="806273"/>
          </a:xfrm>
          <a:prstGeom prst="roundRect">
            <a:avLst>
              <a:gd name="adj" fmla="val 50000"/>
            </a:avLst>
          </a:prstGeom>
          <a:solidFill>
            <a:schemeClr val="accent1">
              <a:alpha val="65000"/>
            </a:schemeClr>
          </a:solidFill>
          <a:ln/>
        </p:spPr>
      </p:sp>
      <p:sp>
        <p:nvSpPr>
          <p:cNvPr id="26" name="Waveform bar 25"/>
          <p:cNvSpPr/>
          <p:nvPr/>
        </p:nvSpPr>
        <p:spPr>
          <a:xfrm>
            <a:off x="6108192" y="5217664"/>
            <a:ext cx="118872" cy="811791"/>
          </a:xfrm>
          <a:prstGeom prst="roundRect">
            <a:avLst>
              <a:gd name="adj" fmla="val 50000"/>
            </a:avLst>
          </a:prstGeom>
          <a:solidFill>
            <a:schemeClr val="accent1">
              <a:alpha val="65000"/>
            </a:schemeClr>
          </a:solidFill>
          <a:ln/>
        </p:spPr>
      </p:sp>
      <p:sp>
        <p:nvSpPr>
          <p:cNvPr id="27" name="Waveform bar 26"/>
          <p:cNvSpPr/>
          <p:nvPr/>
        </p:nvSpPr>
        <p:spPr>
          <a:xfrm>
            <a:off x="6332220" y="5292136"/>
            <a:ext cx="118872" cy="662848"/>
          </a:xfrm>
          <a:prstGeom prst="roundRect">
            <a:avLst>
              <a:gd name="adj" fmla="val 50000"/>
            </a:avLst>
          </a:prstGeom>
          <a:solidFill>
            <a:schemeClr val="accent1">
              <a:alpha val="65000"/>
            </a:schemeClr>
          </a:solidFill>
          <a:ln/>
        </p:spPr>
      </p:sp>
      <p:sp>
        <p:nvSpPr>
          <p:cNvPr id="28" name="Waveform bar 27"/>
          <p:cNvSpPr/>
          <p:nvPr/>
        </p:nvSpPr>
        <p:spPr>
          <a:xfrm>
            <a:off x="6556248" y="5398801"/>
            <a:ext cx="118872" cy="449517"/>
          </a:xfrm>
          <a:prstGeom prst="roundRect">
            <a:avLst>
              <a:gd name="adj" fmla="val 50000"/>
            </a:avLst>
          </a:prstGeom>
          <a:solidFill>
            <a:schemeClr val="accent1">
              <a:alpha val="65000"/>
            </a:schemeClr>
          </a:solidFill>
          <a:ln/>
        </p:spPr>
      </p:sp>
      <p:sp>
        <p:nvSpPr>
          <p:cNvPr id="29" name="Waveform bar 28"/>
          <p:cNvSpPr/>
          <p:nvPr/>
        </p:nvSpPr>
        <p:spPr>
          <a:xfrm>
            <a:off x="6780276" y="5484428"/>
            <a:ext cx="118872" cy="278264"/>
          </a:xfrm>
          <a:prstGeom prst="roundRect">
            <a:avLst>
              <a:gd name="adj" fmla="val 50000"/>
            </a:avLst>
          </a:prstGeom>
          <a:solidFill>
            <a:schemeClr val="accent1">
              <a:alpha val="65000"/>
            </a:schemeClr>
          </a:solidFill>
          <a:ln/>
        </p:spPr>
      </p:sp>
      <p:sp>
        <p:nvSpPr>
          <p:cNvPr id="30" name="Waveform bar 29"/>
          <p:cNvSpPr/>
          <p:nvPr/>
        </p:nvSpPr>
        <p:spPr>
          <a:xfrm>
            <a:off x="7004304" y="5508455"/>
            <a:ext cx="118872" cy="230210"/>
          </a:xfrm>
          <a:prstGeom prst="roundRect">
            <a:avLst>
              <a:gd name="adj" fmla="val 50000"/>
            </a:avLst>
          </a:prstGeom>
          <a:solidFill>
            <a:schemeClr val="accent1">
              <a:alpha val="65000"/>
            </a:schemeClr>
          </a:solidFill>
          <a:ln/>
        </p:spPr>
      </p:sp>
      <p:sp>
        <p:nvSpPr>
          <p:cNvPr id="31" name="Waveform bar 30"/>
          <p:cNvSpPr/>
          <p:nvPr/>
        </p:nvSpPr>
        <p:spPr>
          <a:xfrm>
            <a:off x="7228332" y="5458771"/>
            <a:ext cx="118872" cy="329578"/>
          </a:xfrm>
          <a:prstGeom prst="roundRect">
            <a:avLst>
              <a:gd name="adj" fmla="val 50000"/>
            </a:avLst>
          </a:prstGeom>
          <a:solidFill>
            <a:schemeClr val="accent1">
              <a:alpha val="65000"/>
            </a:schemeClr>
          </a:solidFill>
          <a:ln/>
        </p:spPr>
      </p:sp>
      <p:sp>
        <p:nvSpPr>
          <p:cNvPr id="32" name="Waveform bar 31"/>
          <p:cNvSpPr/>
          <p:nvPr/>
        </p:nvSpPr>
        <p:spPr>
          <a:xfrm>
            <a:off x="7452360" y="5356467"/>
            <a:ext cx="118872" cy="534187"/>
          </a:xfrm>
          <a:prstGeom prst="roundRect">
            <a:avLst>
              <a:gd name="adj" fmla="val 50000"/>
            </a:avLst>
          </a:prstGeom>
          <a:solidFill>
            <a:schemeClr val="accent1">
              <a:alpha val="65000"/>
            </a:schemeClr>
          </a:solidFill>
          <a:ln/>
        </p:spPr>
      </p:sp>
      <p:sp>
        <p:nvSpPr>
          <p:cNvPr id="33" name="Waveform bar 32"/>
          <p:cNvSpPr/>
          <p:nvPr/>
        </p:nvSpPr>
        <p:spPr>
          <a:xfrm>
            <a:off x="7676388" y="5247782"/>
            <a:ext cx="118872" cy="751555"/>
          </a:xfrm>
          <a:prstGeom prst="roundRect">
            <a:avLst>
              <a:gd name="adj" fmla="val 50000"/>
            </a:avLst>
          </a:prstGeom>
          <a:solidFill>
            <a:schemeClr val="accent1">
              <a:alpha val="65000"/>
            </a:schemeClr>
          </a:solidFill>
          <a:ln/>
        </p:spPr>
      </p:sp>
      <p:sp>
        <p:nvSpPr>
          <p:cNvPr id="34" name="Waveform bar 33"/>
          <p:cNvSpPr/>
          <p:nvPr/>
        </p:nvSpPr>
        <p:spPr>
          <a:xfrm>
            <a:off x="7900416" y="5186261"/>
            <a:ext cx="118872" cy="874598"/>
          </a:xfrm>
          <a:prstGeom prst="roundRect">
            <a:avLst>
              <a:gd name="adj" fmla="val 50000"/>
            </a:avLst>
          </a:prstGeom>
          <a:solidFill>
            <a:schemeClr val="accent1">
              <a:alpha val="65000"/>
            </a:schemeClr>
          </a:solidFill>
          <a:ln/>
        </p:spPr>
      </p:sp>
      <p:sp>
        <p:nvSpPr>
          <p:cNvPr id="35" name="Waveform bar 34"/>
          <p:cNvSpPr/>
          <p:nvPr/>
        </p:nvSpPr>
        <p:spPr>
          <a:xfrm>
            <a:off x="8124444" y="5211797"/>
            <a:ext cx="118872" cy="823525"/>
          </a:xfrm>
          <a:prstGeom prst="roundRect">
            <a:avLst>
              <a:gd name="adj" fmla="val 50000"/>
            </a:avLst>
          </a:prstGeom>
          <a:solidFill>
            <a:schemeClr val="accent1">
              <a:alpha val="65000"/>
            </a:schemeClr>
          </a:solidFill>
          <a:ln/>
        </p:spPr>
      </p:sp>
      <p:sp>
        <p:nvSpPr>
          <p:cNvPr id="36" name="Waveform bar 35"/>
          <p:cNvSpPr/>
          <p:nvPr/>
        </p:nvSpPr>
        <p:spPr>
          <a:xfrm>
            <a:off x="8348472" y="5334463"/>
            <a:ext cx="118872" cy="578195"/>
          </a:xfrm>
          <a:prstGeom prst="roundRect">
            <a:avLst>
              <a:gd name="adj" fmla="val 50000"/>
            </a:avLst>
          </a:prstGeom>
          <a:solidFill>
            <a:schemeClr val="accent1">
              <a:alpha val="65000"/>
            </a:schemeClr>
          </a:solidFill>
          <a:ln/>
        </p:spPr>
      </p:sp>
      <p:sp>
        <p:nvSpPr>
          <p:cNvPr id="37" name="Waveform bar 36"/>
          <p:cNvSpPr/>
          <p:nvPr/>
        </p:nvSpPr>
        <p:spPr>
          <a:xfrm>
            <a:off x="8572500" y="5489287"/>
            <a:ext cx="118872" cy="268545"/>
          </a:xfrm>
          <a:prstGeom prst="roundRect">
            <a:avLst>
              <a:gd name="adj" fmla="val 50000"/>
            </a:avLst>
          </a:prstGeom>
          <a:solidFill>
            <a:schemeClr val="accent1">
              <a:alpha val="65000"/>
            </a:schemeClr>
          </a:solidFill>
          <a:ln/>
        </p:spPr>
      </p:sp>
      <p:sp>
        <p:nvSpPr>
          <p:cNvPr id="38" name="Waveform bar 37"/>
          <p:cNvSpPr/>
          <p:nvPr/>
        </p:nvSpPr>
        <p:spPr>
          <a:xfrm>
            <a:off x="8796528" y="5274826"/>
            <a:ext cx="118872" cy="697468"/>
          </a:xfrm>
          <a:prstGeom prst="roundRect">
            <a:avLst>
              <a:gd name="adj" fmla="val 50000"/>
            </a:avLst>
          </a:prstGeom>
          <a:solidFill>
            <a:schemeClr val="accent1">
              <a:alpha val="65000"/>
            </a:schemeClr>
          </a:solidFill>
          <a:ln/>
        </p:spPr>
      </p:sp>
      <p:sp>
        <p:nvSpPr>
          <p:cNvPr id="39" name="Waveform bar 38"/>
          <p:cNvSpPr/>
          <p:nvPr/>
        </p:nvSpPr>
        <p:spPr>
          <a:xfrm>
            <a:off x="9020556" y="5102529"/>
            <a:ext cx="118872" cy="1042062"/>
          </a:xfrm>
          <a:prstGeom prst="roundRect">
            <a:avLst>
              <a:gd name="adj" fmla="val 50000"/>
            </a:avLst>
          </a:prstGeom>
          <a:solidFill>
            <a:schemeClr val="accent1">
              <a:alpha val="65000"/>
            </a:schemeClr>
          </a:solidFill>
          <a:ln/>
        </p:spPr>
      </p:sp>
      <p:sp>
        <p:nvSpPr>
          <p:cNvPr id="40" name="Waveform bar 39"/>
          <p:cNvSpPr/>
          <p:nvPr/>
        </p:nvSpPr>
        <p:spPr>
          <a:xfrm>
            <a:off x="9244584" y="5022070"/>
            <a:ext cx="118872" cy="1202980"/>
          </a:xfrm>
          <a:prstGeom prst="roundRect">
            <a:avLst>
              <a:gd name="adj" fmla="val 50000"/>
            </a:avLst>
          </a:prstGeom>
          <a:solidFill>
            <a:schemeClr val="accent1">
              <a:alpha val="65000"/>
            </a:schemeClr>
          </a:solidFill>
          <a:ln/>
        </p:spPr>
      </p:sp>
      <p:sp>
        <p:nvSpPr>
          <p:cNvPr id="41" name="Waveform bar 40"/>
          <p:cNvSpPr/>
          <p:nvPr/>
        </p:nvSpPr>
        <p:spPr>
          <a:xfrm>
            <a:off x="9468612" y="5053576"/>
            <a:ext cx="118872" cy="1139968"/>
          </a:xfrm>
          <a:prstGeom prst="roundRect">
            <a:avLst>
              <a:gd name="adj" fmla="val 50000"/>
            </a:avLst>
          </a:prstGeom>
          <a:solidFill>
            <a:schemeClr val="accent1">
              <a:alpha val="65000"/>
            </a:schemeClr>
          </a:solidFill>
          <a:ln/>
        </p:spPr>
      </p:sp>
      <p:sp>
        <p:nvSpPr>
          <p:cNvPr id="42" name="Waveform bar 41"/>
          <p:cNvSpPr/>
          <p:nvPr/>
        </p:nvSpPr>
        <p:spPr>
          <a:xfrm>
            <a:off x="9692640" y="5180900"/>
            <a:ext cx="118872" cy="885319"/>
          </a:xfrm>
          <a:prstGeom prst="roundRect">
            <a:avLst>
              <a:gd name="adj" fmla="val 50000"/>
            </a:avLst>
          </a:prstGeom>
          <a:solidFill>
            <a:schemeClr val="accent1">
              <a:alpha val="65000"/>
            </a:schemeClr>
          </a:solidFill>
          <a:ln/>
        </p:spPr>
      </p:sp>
      <p:sp>
        <p:nvSpPr>
          <p:cNvPr id="43" name="Waveform bar 42"/>
          <p:cNvSpPr/>
          <p:nvPr/>
        </p:nvSpPr>
        <p:spPr>
          <a:xfrm>
            <a:off x="9916668" y="5357977"/>
            <a:ext cx="118872" cy="531166"/>
          </a:xfrm>
          <a:prstGeom prst="roundRect">
            <a:avLst>
              <a:gd name="adj" fmla="val 50000"/>
            </a:avLst>
          </a:prstGeom>
          <a:solidFill>
            <a:schemeClr val="accent1">
              <a:alpha val="65000"/>
            </a:schemeClr>
          </a:solidFill>
          <a:ln/>
        </p:spPr>
      </p:sp>
      <p:sp>
        <p:nvSpPr>
          <p:cNvPr id="44" name="Waveform bar 43"/>
          <p:cNvSpPr/>
          <p:nvPr/>
        </p:nvSpPr>
        <p:spPr>
          <a:xfrm>
            <a:off x="10140696" y="5492654"/>
            <a:ext cx="118872" cy="261812"/>
          </a:xfrm>
          <a:prstGeom prst="roundRect">
            <a:avLst>
              <a:gd name="adj" fmla="val 50000"/>
            </a:avLst>
          </a:prstGeom>
          <a:solidFill>
            <a:schemeClr val="accent1">
              <a:alpha val="65000"/>
            </a:schemeClr>
          </a:solidFill>
          <a:ln/>
        </p:spPr>
      </p:sp>
      <p:sp>
        <p:nvSpPr>
          <p:cNvPr id="45" name="Waveform bar 44"/>
          <p:cNvSpPr/>
          <p:nvPr/>
        </p:nvSpPr>
        <p:spPr>
          <a:xfrm>
            <a:off x="10364724" y="5384371"/>
            <a:ext cx="118872" cy="478377"/>
          </a:xfrm>
          <a:prstGeom prst="roundRect">
            <a:avLst>
              <a:gd name="adj" fmla="val 50000"/>
            </a:avLst>
          </a:prstGeom>
          <a:solidFill>
            <a:schemeClr val="accent1">
              <a:alpha val="65000"/>
            </a:schemeClr>
          </a:solidFill>
          <a:ln/>
        </p:spPr>
      </p:sp>
      <p:sp>
        <p:nvSpPr>
          <p:cNvPr id="46" name="Waveform bar 45"/>
          <p:cNvSpPr/>
          <p:nvPr/>
        </p:nvSpPr>
        <p:spPr>
          <a:xfrm>
            <a:off x="10588752" y="5359764"/>
            <a:ext cx="118872" cy="527591"/>
          </a:xfrm>
          <a:prstGeom prst="roundRect">
            <a:avLst>
              <a:gd name="adj" fmla="val 50000"/>
            </a:avLst>
          </a:prstGeom>
          <a:solidFill>
            <a:schemeClr val="accent1">
              <a:alpha val="65000"/>
            </a:schemeClr>
          </a:solidFill>
          <a:ln/>
        </p:spPr>
      </p:sp>
      <p:sp>
        <p:nvSpPr>
          <p:cNvPr id="47" name="Waveform bar 46"/>
          <p:cNvSpPr/>
          <p:nvPr/>
        </p:nvSpPr>
        <p:spPr>
          <a:xfrm>
            <a:off x="10812780" y="5408858"/>
            <a:ext cx="118872" cy="429404"/>
          </a:xfrm>
          <a:prstGeom prst="roundRect">
            <a:avLst>
              <a:gd name="adj" fmla="val 50000"/>
            </a:avLst>
          </a:prstGeom>
          <a:solidFill>
            <a:schemeClr val="accent1">
              <a:alpha val="65000"/>
            </a:schemeClr>
          </a:solidFill>
          <a:ln/>
        </p:spPr>
      </p:sp>
      <p:sp>
        <p:nvSpPr>
          <p:cNvPr id="48" name="Waveform bar 47"/>
          <p:cNvSpPr/>
          <p:nvPr/>
        </p:nvSpPr>
        <p:spPr>
          <a:xfrm>
            <a:off x="11036808" y="5492837"/>
            <a:ext cx="118872" cy="261446"/>
          </a:xfrm>
          <a:prstGeom prst="roundRect">
            <a:avLst>
              <a:gd name="adj" fmla="val 50000"/>
            </a:avLst>
          </a:prstGeom>
          <a:solidFill>
            <a:schemeClr val="accent1">
              <a:alpha val="65000"/>
            </a:schemeClr>
          </a:solidFill>
          <a:ln/>
        </p:spPr>
      </p:sp>
      <p:sp>
        <p:nvSpPr>
          <p:cNvPr id="49" name="Waveform bar 48"/>
          <p:cNvSpPr/>
          <p:nvPr/>
        </p:nvSpPr>
        <p:spPr>
          <a:xfrm>
            <a:off x="11260836" y="5458426"/>
            <a:ext cx="118872" cy="330267"/>
          </a:xfrm>
          <a:prstGeom prst="roundRect">
            <a:avLst>
              <a:gd name="adj" fmla="val 50000"/>
            </a:avLst>
          </a:prstGeom>
          <a:solidFill>
            <a:schemeClr val="accent1">
              <a:alpha val="65000"/>
            </a:schemeClr>
          </a:solidFill>
          <a:ln/>
        </p:spPr>
      </p:sp>
      <p:sp>
        <p:nvSpPr>
          <p:cNvPr id="50" name="Title"/>
          <p:cNvSpPr txBox="1"/>
          <p:nvPr/>
        </p:nvSpPr>
        <p:spPr>
          <a:xfrm>
            <a:off x="731520" y="1371600"/>
            <a:ext cx="10698480" cy="18288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Deep Learning for Multi-Level ESL Pronunciation Assessment and Feedback</a:t>
            </a:r>
            <a:endParaRPr lang="en-US" sz="4400" dirty="0"/>
          </a:p>
        </p:txBody>
      </p:sp>
      <p:sp>
        <p:nvSpPr>
          <p:cNvPr id="51" name="Subtitle"/>
          <p:cNvSpPr txBox="1"/>
          <p:nvPr/>
        </p:nvSpPr>
        <p:spPr>
          <a:xfrm>
            <a:off x="731520" y="3474720"/>
            <a:ext cx="10698480" cy="548640"/>
          </a:xfrm>
          <a:prstGeom prst="rect">
            <a:avLst/>
          </a:prstGeom>
          <a:noFill/>
          <a:ln/>
        </p:spPr>
        <p:txBody>
          <a:bodyPr wrap="square" lIns="0" tIns="0" rIns="0" bIns="0" rtlCol="0" anchor="t"/>
          <a:lstStyle/>
          <a:p>
            <a:pPr indent="0" marL="0">
              <a:buNone/>
            </a:pPr>
            <a:r>
              <a:rPr lang="en-US" sz="2400" dirty="0">
                <a:solidFill>
                  <a:srgbClr val="CADCFC"/>
                </a:solidFill>
                <a:latin typeface="Calibri" pitchFamily="34" charset="0"/>
                <a:ea typeface="Calibri" pitchFamily="34" charset="-122"/>
                <a:cs typeface="Calibri" pitchFamily="34" charset="-120"/>
              </a:rPr>
              <a:t>Midterm progress: Sprints 1 to 5 of 10</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Scoring English pronunciation at three levels</a:t>
            </a:r>
            <a:endParaRPr lang="en-US" sz="3600" dirty="0"/>
          </a:p>
        </p:txBody>
      </p:sp>
      <p:sp>
        <p:nvSpPr>
          <p:cNvPr id="3" name="Level card 1"/>
          <p:cNvSpPr/>
          <p:nvPr/>
        </p:nvSpPr>
        <p:spPr>
          <a:xfrm>
            <a:off x="548640" y="1463040"/>
            <a:ext cx="3520440" cy="2057400"/>
          </a:xfrm>
          <a:prstGeom prst="roundRect">
            <a:avLst>
              <a:gd name="adj" fmla="val 5333"/>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22960" y="1645920"/>
            <a:ext cx="29718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Sentence</a:t>
            </a:r>
            <a:endParaRPr lang="en-US" sz="2400" dirty="0"/>
          </a:p>
        </p:txBody>
      </p:sp>
      <p:sp>
        <p:nvSpPr>
          <p:cNvPr id="5" name="Text 3"/>
          <p:cNvSpPr txBox="1"/>
          <p:nvPr/>
        </p:nvSpPr>
        <p:spPr>
          <a:xfrm>
            <a:off x="822960" y="2194560"/>
            <a:ext cx="2971800" cy="11887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Overall accuracy, fluency and prosody scores</a:t>
            </a:r>
            <a:endParaRPr lang="en-US" sz="1600" dirty="0"/>
          </a:p>
        </p:txBody>
      </p:sp>
      <p:sp>
        <p:nvSpPr>
          <p:cNvPr id="6" name="Level card 2"/>
          <p:cNvSpPr/>
          <p:nvPr/>
        </p:nvSpPr>
        <p:spPr>
          <a:xfrm>
            <a:off x="4343400" y="1463040"/>
            <a:ext cx="3520440" cy="2057400"/>
          </a:xfrm>
          <a:prstGeom prst="roundRect">
            <a:avLst>
              <a:gd name="adj" fmla="val 5333"/>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4617720" y="1645920"/>
            <a:ext cx="29718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Word</a:t>
            </a:r>
            <a:endParaRPr lang="en-US" sz="2400" dirty="0"/>
          </a:p>
        </p:txBody>
      </p:sp>
      <p:sp>
        <p:nvSpPr>
          <p:cNvPr id="8" name="Text 6"/>
          <p:cNvSpPr txBox="1"/>
          <p:nvPr/>
        </p:nvSpPr>
        <p:spPr>
          <a:xfrm>
            <a:off x="4617720" y="2194560"/>
            <a:ext cx="2971800" cy="11887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Which words were mispronounced</a:t>
            </a:r>
            <a:endParaRPr lang="en-US" sz="1600" dirty="0"/>
          </a:p>
        </p:txBody>
      </p:sp>
      <p:sp>
        <p:nvSpPr>
          <p:cNvPr id="9" name="Level card 3"/>
          <p:cNvSpPr/>
          <p:nvPr/>
        </p:nvSpPr>
        <p:spPr>
          <a:xfrm>
            <a:off x="8138160" y="1463040"/>
            <a:ext cx="3520440" cy="2057400"/>
          </a:xfrm>
          <a:prstGeom prst="roundRect">
            <a:avLst>
              <a:gd name="adj" fmla="val 5333"/>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8412480" y="1645920"/>
            <a:ext cx="29718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Phoneme</a:t>
            </a:r>
            <a:endParaRPr lang="en-US" sz="2400" dirty="0"/>
          </a:p>
        </p:txBody>
      </p:sp>
      <p:sp>
        <p:nvSpPr>
          <p:cNvPr id="11" name="Text 9"/>
          <p:cNvSpPr txBox="1"/>
          <p:nvPr/>
        </p:nvSpPr>
        <p:spPr>
          <a:xfrm>
            <a:off x="8412480" y="2194560"/>
            <a:ext cx="2971800" cy="11887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The smallest units of sound. Each error is classified as a substitution, deletion or addition</a:t>
            </a:r>
            <a:endParaRPr lang="en-US" sz="1600" dirty="0"/>
          </a:p>
        </p:txBody>
      </p:sp>
      <p:sp>
        <p:nvSpPr>
          <p:cNvPr id="12" name="Text 10"/>
          <p:cNvSpPr txBox="1"/>
          <p:nvPr/>
        </p:nvSpPr>
        <p:spPr>
          <a:xfrm>
            <a:off x="548640" y="3794760"/>
            <a:ext cx="731520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Three research questions</a:t>
            </a:r>
            <a:endParaRPr lang="en-US" sz="2200" dirty="0"/>
          </a:p>
        </p:txBody>
      </p:sp>
      <p:sp>
        <p:nvSpPr>
          <p:cNvPr id="13" name="Question card 1"/>
          <p:cNvSpPr/>
          <p:nvPr/>
        </p:nvSpPr>
        <p:spPr>
          <a:xfrm>
            <a:off x="548640" y="4389120"/>
            <a:ext cx="3520440" cy="1737360"/>
          </a:xfrm>
          <a:prstGeom prst="roundRect">
            <a:avLst>
              <a:gd name="adj" fmla="val 6316"/>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14" name="Question number 1"/>
          <p:cNvSpPr txBox="1"/>
          <p:nvPr/>
        </p:nvSpPr>
        <p:spPr>
          <a:xfrm>
            <a:off x="822960" y="4572000"/>
            <a:ext cx="502920" cy="50292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5" name="Text 13"/>
          <p:cNvSpPr txBox="1"/>
          <p:nvPr/>
        </p:nvSpPr>
        <p:spPr>
          <a:xfrm>
            <a:off x="822960" y="5257800"/>
            <a:ext cx="2971800" cy="7772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Do pretrained speech models beat handcrafted features?</a:t>
            </a:r>
            <a:endParaRPr lang="en-US" sz="1700" dirty="0"/>
          </a:p>
        </p:txBody>
      </p:sp>
      <p:sp>
        <p:nvSpPr>
          <p:cNvPr id="16" name="Question card 2"/>
          <p:cNvSpPr/>
          <p:nvPr/>
        </p:nvSpPr>
        <p:spPr>
          <a:xfrm>
            <a:off x="4343400" y="4389120"/>
            <a:ext cx="3520440" cy="1737360"/>
          </a:xfrm>
          <a:prstGeom prst="roundRect">
            <a:avLst>
              <a:gd name="adj" fmla="val 6316"/>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17" name="Question number 2"/>
          <p:cNvSpPr txBox="1"/>
          <p:nvPr/>
        </p:nvSpPr>
        <p:spPr>
          <a:xfrm>
            <a:off x="4617720" y="4572000"/>
            <a:ext cx="502920" cy="50292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8" name="Text 16"/>
          <p:cNvSpPr txBox="1"/>
          <p:nvPr/>
        </p:nvSpPr>
        <p:spPr>
          <a:xfrm>
            <a:off x="4617720" y="5257800"/>
            <a:ext cx="2971800" cy="7772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Does multi-task learning help?</a:t>
            </a:r>
            <a:endParaRPr lang="en-US" sz="1700" dirty="0"/>
          </a:p>
        </p:txBody>
      </p:sp>
      <p:sp>
        <p:nvSpPr>
          <p:cNvPr id="19" name="Question card 3"/>
          <p:cNvSpPr/>
          <p:nvPr/>
        </p:nvSpPr>
        <p:spPr>
          <a:xfrm>
            <a:off x="8138160" y="4389120"/>
            <a:ext cx="3520440" cy="1737360"/>
          </a:xfrm>
          <a:prstGeom prst="roundRect">
            <a:avLst>
              <a:gd name="adj" fmla="val 6316"/>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20" name="Question number 3"/>
          <p:cNvSpPr txBox="1"/>
          <p:nvPr/>
        </p:nvSpPr>
        <p:spPr>
          <a:xfrm>
            <a:off x="8412480" y="4572000"/>
            <a:ext cx="502920" cy="50292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1" name="Text 19"/>
          <p:cNvSpPr txBox="1"/>
          <p:nvPr/>
        </p:nvSpPr>
        <p:spPr>
          <a:xfrm>
            <a:off x="8412480" y="5257800"/>
            <a:ext cx="2971800" cy="7772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Does it generalize to speakers it has never heard?</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Two datasets, two kinds of labels</a:t>
            </a:r>
            <a:endParaRPr lang="en-US" sz="3600" dirty="0"/>
          </a:p>
        </p:txBody>
      </p:sp>
      <p:sp>
        <p:nvSpPr>
          <p:cNvPr id="3" name="Dataset card 1"/>
          <p:cNvSpPr/>
          <p:nvPr/>
        </p:nvSpPr>
        <p:spPr>
          <a:xfrm>
            <a:off x="548640" y="1463040"/>
            <a:ext cx="5440680" cy="4572000"/>
          </a:xfrm>
          <a:prstGeom prst="roundRect">
            <a:avLst>
              <a:gd name="adj" fmla="val 2400"/>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914400" y="1737360"/>
            <a:ext cx="4663440" cy="54864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SpeechOcean762</a:t>
            </a:r>
            <a:endParaRPr lang="en-US" sz="2800" dirty="0"/>
          </a:p>
        </p:txBody>
      </p:sp>
      <p:sp>
        <p:nvSpPr>
          <p:cNvPr id="5" name="Text 3"/>
          <p:cNvSpPr txBox="1"/>
          <p:nvPr/>
        </p:nvSpPr>
        <p:spPr>
          <a:xfrm>
            <a:off x="914400" y="2514600"/>
            <a:ext cx="2286000" cy="86868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5,000</a:t>
            </a:r>
            <a:endParaRPr lang="en-US" sz="5400" dirty="0"/>
          </a:p>
        </p:txBody>
      </p:sp>
      <p:sp>
        <p:nvSpPr>
          <p:cNvPr id="6" name="Text 4"/>
          <p:cNvSpPr txBox="1"/>
          <p:nvPr/>
        </p:nvSpPr>
        <p:spPr>
          <a:xfrm>
            <a:off x="914400" y="3429000"/>
            <a:ext cx="2194560" cy="73152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recorded sentences</a:t>
            </a:r>
            <a:endParaRPr lang="en-US" sz="1600" dirty="0"/>
          </a:p>
        </p:txBody>
      </p:sp>
      <p:sp>
        <p:nvSpPr>
          <p:cNvPr id="7" name="Text 5"/>
          <p:cNvSpPr txBox="1"/>
          <p:nvPr/>
        </p:nvSpPr>
        <p:spPr>
          <a:xfrm>
            <a:off x="3383280" y="2514600"/>
            <a:ext cx="2286000" cy="86868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250</a:t>
            </a:r>
            <a:endParaRPr lang="en-US" sz="5400" dirty="0"/>
          </a:p>
        </p:txBody>
      </p:sp>
      <p:sp>
        <p:nvSpPr>
          <p:cNvPr id="8" name="Text 6"/>
          <p:cNvSpPr txBox="1"/>
          <p:nvPr/>
        </p:nvSpPr>
        <p:spPr>
          <a:xfrm>
            <a:off x="3383280" y="3429000"/>
            <a:ext cx="2194560" cy="73152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Mandarin-speaking learners of English</a:t>
            </a:r>
            <a:endParaRPr lang="en-US" sz="1600" dirty="0"/>
          </a:p>
        </p:txBody>
      </p:sp>
      <p:sp>
        <p:nvSpPr>
          <p:cNvPr id="9" name="Text 7"/>
          <p:cNvSpPr txBox="1"/>
          <p:nvPr/>
        </p:nvSpPr>
        <p:spPr>
          <a:xfrm>
            <a:off x="914400" y="4526280"/>
            <a:ext cx="466344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Half children, half adults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Expert scores for sentences, words and phonemes</a:t>
            </a:r>
            <a:endParaRPr lang="en-US" sz="1600" dirty="0"/>
          </a:p>
        </p:txBody>
      </p:sp>
      <p:sp>
        <p:nvSpPr>
          <p:cNvPr id="10" name="Dataset card 2"/>
          <p:cNvSpPr/>
          <p:nvPr/>
        </p:nvSpPr>
        <p:spPr>
          <a:xfrm>
            <a:off x="6199632" y="1463040"/>
            <a:ext cx="5440680" cy="4572000"/>
          </a:xfrm>
          <a:prstGeom prst="roundRect">
            <a:avLst>
              <a:gd name="adj" fmla="val 2400"/>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6565392" y="1737360"/>
            <a:ext cx="466344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L2-ARCTIC</a:t>
            </a:r>
            <a:endParaRPr lang="en-US" sz="2800" dirty="0"/>
          </a:p>
        </p:txBody>
      </p:sp>
      <p:sp>
        <p:nvSpPr>
          <p:cNvPr id="12" name="Text 10"/>
          <p:cNvSpPr txBox="1"/>
          <p:nvPr/>
        </p:nvSpPr>
        <p:spPr>
          <a:xfrm>
            <a:off x="6565392" y="2514600"/>
            <a:ext cx="2286000" cy="86868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24</a:t>
            </a:r>
            <a:endParaRPr lang="en-US" sz="5400" dirty="0"/>
          </a:p>
        </p:txBody>
      </p:sp>
      <p:sp>
        <p:nvSpPr>
          <p:cNvPr id="13" name="Text 11"/>
          <p:cNvSpPr txBox="1"/>
          <p:nvPr/>
        </p:nvSpPr>
        <p:spPr>
          <a:xfrm>
            <a:off x="6565392" y="3429000"/>
            <a:ext cx="2194560" cy="73152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learners</a:t>
            </a:r>
            <a:endParaRPr lang="en-US" sz="1600" dirty="0"/>
          </a:p>
        </p:txBody>
      </p:sp>
      <p:sp>
        <p:nvSpPr>
          <p:cNvPr id="14" name="Text 12"/>
          <p:cNvSpPr txBox="1"/>
          <p:nvPr/>
        </p:nvSpPr>
        <p:spPr>
          <a:xfrm>
            <a:off x="9034272" y="2514600"/>
            <a:ext cx="2286000" cy="868680"/>
          </a:xfrm>
          <a:prstGeom prst="rect">
            <a:avLst/>
          </a:prstGeom>
          <a:noFill/>
          <a:ln/>
        </p:spPr>
        <p:txBody>
          <a:bodyPr wrap="square" lIns="0" tIns="0" rIns="0" bIns="0" rtlCol="0" anchor="t"/>
          <a:lstStyle/>
          <a:p>
            <a:pPr indent="0" marL="0">
              <a:buNone/>
            </a:pPr>
            <a:r>
              <a:rPr lang="en-US" sz="5400" b="1" dirty="0">
                <a:solidFill>
                  <a:schemeClr val="tx2"/>
                </a:solidFill>
                <a:latin typeface="Cambria" pitchFamily="34" charset="0"/>
                <a:ea typeface="Cambria" pitchFamily="34" charset="-122"/>
                <a:cs typeface="Cambria" pitchFamily="34" charset="-120"/>
              </a:rPr>
              <a:t>6</a:t>
            </a:r>
            <a:endParaRPr lang="en-US" sz="5400" dirty="0"/>
          </a:p>
        </p:txBody>
      </p:sp>
      <p:sp>
        <p:nvSpPr>
          <p:cNvPr id="15" name="Text 13"/>
          <p:cNvSpPr txBox="1"/>
          <p:nvPr/>
        </p:nvSpPr>
        <p:spPr>
          <a:xfrm>
            <a:off x="9034272" y="3429000"/>
            <a:ext cx="2194560" cy="73152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language backgrounds</a:t>
            </a:r>
            <a:endParaRPr lang="en-US" sz="1600" dirty="0"/>
          </a:p>
        </p:txBody>
      </p:sp>
      <p:sp>
        <p:nvSpPr>
          <p:cNvPr id="16" name="Text 14"/>
          <p:cNvSpPr txBox="1"/>
          <p:nvPr/>
        </p:nvSpPr>
        <p:spPr>
          <a:xfrm>
            <a:off x="6565392" y="4526280"/>
            <a:ext cx="466344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Arabic, Hindi, Korean, Mandarin, Spanish, Vietnamese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Annotated pronunciation errors: substitution, deletion, addition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Class imbalance chart" descr="Bar chart of L2-ARCTIC annotated phone events: 84.5% correct, 11.7% substitution, 2.8% deletion, 0.9% additio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Three stages, same speakers, same test set</a:t>
            </a:r>
            <a:endParaRPr lang="en-US" sz="3600" dirty="0"/>
          </a:p>
        </p:txBody>
      </p:sp>
      <p:sp>
        <p:nvSpPr>
          <p:cNvPr id="3" name="Stage card 1"/>
          <p:cNvSpPr/>
          <p:nvPr/>
        </p:nvSpPr>
        <p:spPr>
          <a:xfrm>
            <a:off x="548640" y="1554480"/>
            <a:ext cx="3291840" cy="3017520"/>
          </a:xfrm>
          <a:prstGeom prst="roundRect">
            <a:avLst>
              <a:gd name="adj" fmla="val 3636"/>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4" name="Stage number 1"/>
          <p:cNvSpPr txBox="1"/>
          <p:nvPr/>
        </p:nvSpPr>
        <p:spPr>
          <a:xfrm>
            <a:off x="822960" y="178308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822960" y="2560320"/>
            <a:ext cx="274320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Traditional baseline</a:t>
            </a:r>
            <a:endParaRPr lang="en-US" sz="2200" dirty="0"/>
          </a:p>
        </p:txBody>
      </p:sp>
      <p:sp>
        <p:nvSpPr>
          <p:cNvPr id="6" name="Text 4"/>
          <p:cNvSpPr txBox="1"/>
          <p:nvPr/>
        </p:nvSpPr>
        <p:spPr>
          <a:xfrm>
            <a:off x="822960" y="3108960"/>
            <a:ext cx="274320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Classic audio features called MFCCs, with standard machine learning</a:t>
            </a:r>
            <a:endParaRPr lang="en-US" sz="1600" dirty="0"/>
          </a:p>
        </p:txBody>
      </p:sp>
      <p:sp>
        <p:nvSpPr>
          <p:cNvPr id="7" name="Arrow 1"/>
          <p:cNvSpPr/>
          <p:nvPr/>
        </p:nvSpPr>
        <p:spPr>
          <a:xfrm>
            <a:off x="3931920" y="2880360"/>
            <a:ext cx="411480" cy="365760"/>
          </a:xfrm>
          <a:prstGeom prst="rightArrow">
            <a:avLst/>
          </a:prstGeom>
          <a:solidFill>
            <a:schemeClr val="accent5"/>
          </a:solidFill>
          <a:ln/>
        </p:spPr>
      </p:sp>
      <p:sp>
        <p:nvSpPr>
          <p:cNvPr id="8" name="Stage card 2"/>
          <p:cNvSpPr/>
          <p:nvPr/>
        </p:nvSpPr>
        <p:spPr>
          <a:xfrm>
            <a:off x="4434840" y="1554480"/>
            <a:ext cx="3291840" cy="3017520"/>
          </a:xfrm>
          <a:prstGeom prst="roundRect">
            <a:avLst>
              <a:gd name="adj" fmla="val 3636"/>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9" name="Stage number 2"/>
          <p:cNvSpPr txBox="1"/>
          <p:nvPr/>
        </p:nvSpPr>
        <p:spPr>
          <a:xfrm>
            <a:off x="4709160" y="178308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4709160" y="2560320"/>
            <a:ext cx="274320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Frozen WavLM</a:t>
            </a:r>
            <a:endParaRPr lang="en-US" sz="2200" dirty="0"/>
          </a:p>
        </p:txBody>
      </p:sp>
      <p:sp>
        <p:nvSpPr>
          <p:cNvPr id="11" name="Text 9"/>
          <p:cNvSpPr txBox="1"/>
          <p:nvPr/>
        </p:nvSpPr>
        <p:spPr>
          <a:xfrm>
            <a:off x="4709160" y="3108960"/>
            <a:ext cx="274320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 speech model pretrained on tens of thousands of hours of audio, with small prediction layers on top</a:t>
            </a:r>
            <a:endParaRPr lang="en-US" sz="1600" dirty="0"/>
          </a:p>
        </p:txBody>
      </p:sp>
      <p:sp>
        <p:nvSpPr>
          <p:cNvPr id="12" name="Arrow 2"/>
          <p:cNvSpPr/>
          <p:nvPr/>
        </p:nvSpPr>
        <p:spPr>
          <a:xfrm>
            <a:off x="7818120" y="2880360"/>
            <a:ext cx="411480" cy="365760"/>
          </a:xfrm>
          <a:prstGeom prst="rightArrow">
            <a:avLst/>
          </a:prstGeom>
          <a:solidFill>
            <a:schemeClr val="accent5"/>
          </a:solidFill>
          <a:ln/>
        </p:spPr>
      </p:sp>
      <p:sp>
        <p:nvSpPr>
          <p:cNvPr id="13" name="Stage card 3"/>
          <p:cNvSpPr/>
          <p:nvPr/>
        </p:nvSpPr>
        <p:spPr>
          <a:xfrm>
            <a:off x="8321040" y="1554480"/>
            <a:ext cx="3291840" cy="3017520"/>
          </a:xfrm>
          <a:prstGeom prst="roundRect">
            <a:avLst>
              <a:gd name="adj" fmla="val 3636"/>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14" name="Stage number 3"/>
          <p:cNvSpPr txBox="1"/>
          <p:nvPr/>
        </p:nvSpPr>
        <p:spPr>
          <a:xfrm>
            <a:off x="8595360" y="178308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3"/>
          <p:cNvSpPr txBox="1"/>
          <p:nvPr/>
        </p:nvSpPr>
        <p:spPr>
          <a:xfrm>
            <a:off x="8595360" y="2560320"/>
            <a:ext cx="274320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Fine-tuned WavLM</a:t>
            </a:r>
            <a:endParaRPr lang="en-US" sz="2200" dirty="0"/>
          </a:p>
        </p:txBody>
      </p:sp>
      <p:sp>
        <p:nvSpPr>
          <p:cNvPr id="16" name="Text 14"/>
          <p:cNvSpPr txBox="1"/>
          <p:nvPr/>
        </p:nvSpPr>
        <p:spPr>
          <a:xfrm>
            <a:off x="8595360" y="3108960"/>
            <a:ext cx="274320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The whole model is trained further for pronunciation scoring</a:t>
            </a:r>
            <a:endParaRPr lang="en-US" sz="1600" dirty="0"/>
          </a:p>
        </p:txBody>
      </p:sp>
      <p:sp>
        <p:nvSpPr>
          <p:cNvPr id="17" name="Benchmark callout"/>
          <p:cNvSpPr/>
          <p:nvPr/>
        </p:nvSpPr>
        <p:spPr>
          <a:xfrm>
            <a:off x="548640" y="4983480"/>
            <a:ext cx="11064240" cy="1051560"/>
          </a:xfrm>
          <a:prstGeom prst="roundRect">
            <a:avLst>
              <a:gd name="adj" fmla="val 10435"/>
            </a:avLst>
          </a:prstGeom>
          <a:solidFill>
            <a:schemeClr val="accent2">
              <a:alpha val="12000"/>
            </a:schemeClr>
          </a:solidFill>
          <a:ln/>
        </p:spPr>
      </p:sp>
      <p:sp>
        <p:nvSpPr>
          <p:cNvPr id="18" name="Text 16"/>
          <p:cNvSpPr txBox="1"/>
          <p:nvPr/>
        </p:nvSpPr>
        <p:spPr>
          <a:xfrm>
            <a:off x="868680" y="4983480"/>
            <a:ext cx="10424160" cy="1051560"/>
          </a:xfrm>
          <a:prstGeom prst="rect">
            <a:avLst/>
          </a:prstGeom>
          <a:noFill/>
          <a:ln/>
        </p:spPr>
        <p:txBody>
          <a:bodyPr wrap="square" lIns="0" tIns="0" rIns="0" bIns="0" rtlCol="0" anchor="ctr"/>
          <a:lstStyle/>
          <a:p>
            <a:pPr indent="0" marL="0">
              <a:buNone/>
            </a:pPr>
            <a:r>
              <a:rPr lang="en-US" sz="2200" b="1" dirty="0">
                <a:solidFill>
                  <a:schemeClr val="tx2"/>
                </a:solidFill>
                <a:latin typeface="Calibri" pitchFamily="34" charset="0"/>
                <a:ea typeface="Calibri" pitchFamily="34" charset="-122"/>
                <a:cs typeface="Calibri" pitchFamily="34" charset="-120"/>
              </a:rPr>
              <a:t>Benchmark project: </a:t>
            </a:r>
            <a:pPr indent="0" marL="0">
              <a:buNone/>
            </a:pPr>
            <a:r>
              <a:rPr lang="en-US" sz="2200" dirty="0">
                <a:solidFill>
                  <a:schemeClr val="tx2"/>
                </a:solidFill>
                <a:latin typeface="Calibri" pitchFamily="34" charset="0"/>
                <a:ea typeface="Calibri" pitchFamily="34" charset="-122"/>
                <a:cs typeface="Calibri" pitchFamily="34" charset="-120"/>
              </a:rPr>
              <a:t>at every stage, find the model's weaknesses, then fix them</a:t>
            </a:r>
            <a:endParaRPr lang="en-US" sz="2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Results ladder chart" descr="Bar chart of macro-F1 across four stages. Phoneme error type: 0.33, 0.40, 0.52, 0.58. Mispronunciation detection: 0.52, 0.57, 0.66, 0.6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Every stage: find a weakness, then fix it</a:t>
            </a:r>
            <a:endParaRPr lang="en-US" sz="3600" dirty="0"/>
          </a:p>
        </p:txBody>
      </p:sp>
      <p:sp>
        <p:nvSpPr>
          <p:cNvPr id="3" name="Text 1"/>
          <p:cNvSpPr txBox="1"/>
          <p:nvPr/>
        </p:nvSpPr>
        <p:spPr>
          <a:xfrm>
            <a:off x="777240" y="1371600"/>
            <a:ext cx="731520" cy="27432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Sprint</a:t>
            </a:r>
            <a:endParaRPr lang="en-US" sz="1400" dirty="0"/>
          </a:p>
        </p:txBody>
      </p:sp>
      <p:sp>
        <p:nvSpPr>
          <p:cNvPr id="4" name="Text 2"/>
          <p:cNvSpPr txBox="1"/>
          <p:nvPr/>
        </p:nvSpPr>
        <p:spPr>
          <a:xfrm>
            <a:off x="1645920" y="1371600"/>
            <a:ext cx="3200400" cy="27432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Weakness</a:t>
            </a:r>
            <a:endParaRPr lang="en-US" sz="1400" dirty="0"/>
          </a:p>
        </p:txBody>
      </p:sp>
      <p:sp>
        <p:nvSpPr>
          <p:cNvPr id="5" name="Text 3"/>
          <p:cNvSpPr txBox="1"/>
          <p:nvPr/>
        </p:nvSpPr>
        <p:spPr>
          <a:xfrm>
            <a:off x="5074920" y="1371600"/>
            <a:ext cx="2926080" cy="27432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Fix</a:t>
            </a:r>
            <a:endParaRPr lang="en-US" sz="1400" dirty="0"/>
          </a:p>
        </p:txBody>
      </p:sp>
      <p:sp>
        <p:nvSpPr>
          <p:cNvPr id="6" name="Text 4"/>
          <p:cNvSpPr txBox="1"/>
          <p:nvPr/>
        </p:nvSpPr>
        <p:spPr>
          <a:xfrm>
            <a:off x="8183880" y="1371600"/>
            <a:ext cx="3200400" cy="27432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Result</a:t>
            </a:r>
            <a:endParaRPr lang="en-US" sz="1400" dirty="0"/>
          </a:p>
        </p:txBody>
      </p:sp>
      <p:sp>
        <p:nvSpPr>
          <p:cNvPr id="7" name="Row card 3"/>
          <p:cNvSpPr/>
          <p:nvPr/>
        </p:nvSpPr>
        <p:spPr>
          <a:xfrm>
            <a:off x="548640" y="1737360"/>
            <a:ext cx="11064240" cy="1325880"/>
          </a:xfrm>
          <a:prstGeom prst="roundRect">
            <a:avLst>
              <a:gd name="adj" fmla="val 8276"/>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8" name="Sprint number 3"/>
          <p:cNvSpPr txBox="1"/>
          <p:nvPr/>
        </p:nvSpPr>
        <p:spPr>
          <a:xfrm>
            <a:off x="777240" y="210312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9" name="Text 7"/>
          <p:cNvSpPr txBox="1"/>
          <p:nvPr/>
        </p:nvSpPr>
        <p:spPr>
          <a:xfrm>
            <a:off x="1645920" y="1920240"/>
            <a:ext cx="3200400" cy="96012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The baseline called almost every sound correct</a:t>
            </a:r>
            <a:endParaRPr lang="en-US" sz="1600" dirty="0"/>
          </a:p>
        </p:txBody>
      </p:sp>
      <p:sp>
        <p:nvSpPr>
          <p:cNvPr id="10" name="Text 8"/>
          <p:cNvSpPr txBox="1"/>
          <p:nvPr/>
        </p:nvSpPr>
        <p:spPr>
          <a:xfrm>
            <a:off x="5074920" y="1920240"/>
            <a:ext cx="2926080" cy="96012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Weight rare errors more, and tune the decision threshold</a:t>
            </a:r>
            <a:endParaRPr lang="en-US" sz="1600" dirty="0"/>
          </a:p>
        </p:txBody>
      </p:sp>
      <p:sp>
        <p:nvSpPr>
          <p:cNvPr id="11" name="Text 9"/>
          <p:cNvSpPr txBox="1"/>
          <p:nvPr/>
        </p:nvSpPr>
        <p:spPr>
          <a:xfrm>
            <a:off x="8183880" y="1920240"/>
            <a:ext cx="3246120" cy="9601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Macro-F1 rose from 0.33 to 0.40</a:t>
            </a:r>
            <a:endParaRPr lang="en-US" sz="1600" dirty="0"/>
          </a:p>
        </p:txBody>
      </p:sp>
      <p:sp>
        <p:nvSpPr>
          <p:cNvPr id="12" name="Row card 4"/>
          <p:cNvSpPr/>
          <p:nvPr/>
        </p:nvSpPr>
        <p:spPr>
          <a:xfrm>
            <a:off x="548640" y="3200400"/>
            <a:ext cx="11064240" cy="1325880"/>
          </a:xfrm>
          <a:prstGeom prst="roundRect">
            <a:avLst>
              <a:gd name="adj" fmla="val 8276"/>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13" name="Sprint number 4"/>
          <p:cNvSpPr txBox="1"/>
          <p:nvPr/>
        </p:nvSpPr>
        <p:spPr>
          <a:xfrm>
            <a:off x="777240" y="356616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Text 12"/>
          <p:cNvSpPr txBox="1"/>
          <p:nvPr/>
        </p:nvSpPr>
        <p:spPr>
          <a:xfrm>
            <a:off x="1645920" y="3383280"/>
            <a:ext cx="3200400" cy="96012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wav2vec2 looked weak because it was reading the wrong internal layer</a:t>
            </a:r>
            <a:endParaRPr lang="en-US" sz="1600" dirty="0"/>
          </a:p>
        </p:txBody>
      </p:sp>
      <p:sp>
        <p:nvSpPr>
          <p:cNvPr id="15" name="Text 13"/>
          <p:cNvSpPr txBox="1"/>
          <p:nvPr/>
        </p:nvSpPr>
        <p:spPr>
          <a:xfrm>
            <a:off x="5074920" y="3383280"/>
            <a:ext cx="2926080" cy="96012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Switch to a better layer</a:t>
            </a:r>
            <a:endParaRPr lang="en-US" sz="1600" dirty="0"/>
          </a:p>
        </p:txBody>
      </p:sp>
      <p:sp>
        <p:nvSpPr>
          <p:cNvPr id="16" name="Text 14"/>
          <p:cNvSpPr txBox="1"/>
          <p:nvPr/>
        </p:nvSpPr>
        <p:spPr>
          <a:xfrm>
            <a:off x="8183880" y="3383280"/>
            <a:ext cx="3246120" cy="9601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Macro-F1 gained 0.11 on phoneme error type</a:t>
            </a:r>
            <a:endParaRPr lang="en-US" sz="1600" dirty="0"/>
          </a:p>
        </p:txBody>
      </p:sp>
      <p:sp>
        <p:nvSpPr>
          <p:cNvPr id="17" name="Row card 5"/>
          <p:cNvSpPr/>
          <p:nvPr/>
        </p:nvSpPr>
        <p:spPr>
          <a:xfrm>
            <a:off x="548640" y="4663440"/>
            <a:ext cx="11064240" cy="1325880"/>
          </a:xfrm>
          <a:prstGeom prst="roundRect">
            <a:avLst>
              <a:gd name="adj" fmla="val 8276"/>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18" name="Sprint number 5"/>
          <p:cNvSpPr txBox="1"/>
          <p:nvPr/>
        </p:nvSpPr>
        <p:spPr>
          <a:xfrm>
            <a:off x="777240" y="502920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9" name="Text 17"/>
          <p:cNvSpPr txBox="1"/>
          <p:nvPr/>
        </p:nvSpPr>
        <p:spPr>
          <a:xfrm>
            <a:off x="1645920" y="4846320"/>
            <a:ext cx="3200400" cy="96012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The model memorized its training examples</a:t>
            </a:r>
            <a:endParaRPr lang="en-US" sz="1600" dirty="0"/>
          </a:p>
        </p:txBody>
      </p:sp>
      <p:sp>
        <p:nvSpPr>
          <p:cNvPr id="20" name="Text 18"/>
          <p:cNvSpPr txBox="1"/>
          <p:nvPr/>
        </p:nvSpPr>
        <p:spPr>
          <a:xfrm>
            <a:off x="5074920" y="4846320"/>
            <a:ext cx="2926080" cy="96012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lower learning rate (six fix variants tested)</a:t>
            </a:r>
            <a:endParaRPr lang="en-US" sz="1600" dirty="0"/>
          </a:p>
        </p:txBody>
      </p:sp>
      <p:sp>
        <p:nvSpPr>
          <p:cNvPr id="21" name="Text 19"/>
          <p:cNvSpPr txBox="1"/>
          <p:nvPr/>
        </p:nvSpPr>
        <p:spPr>
          <a:xfrm>
            <a:off x="8183880" y="4846320"/>
            <a:ext cx="3246120" cy="9601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Overconfident predictions fixed (+0.02 macro-F1). Sentence scores did not improve on new speakers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What's next</a:t>
            </a:r>
            <a:endParaRPr lang="en-US" sz="3600" dirty="0"/>
          </a:p>
        </p:txBody>
      </p:sp>
      <p:sp>
        <p:nvSpPr>
          <p:cNvPr id="3" name="Next card 1"/>
          <p:cNvSpPr/>
          <p:nvPr/>
        </p:nvSpPr>
        <p:spPr>
          <a:xfrm>
            <a:off x="548640" y="1371600"/>
            <a:ext cx="5440680" cy="1783080"/>
          </a:xfrm>
          <a:prstGeom prst="roundRect">
            <a:avLst>
              <a:gd name="adj" fmla="val 6154"/>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4" name="Next number 1"/>
          <p:cNvSpPr txBox="1"/>
          <p:nvPr/>
        </p:nvSpPr>
        <p:spPr>
          <a:xfrm>
            <a:off x="822960" y="1645920"/>
            <a:ext cx="502920" cy="50292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54480" y="1645920"/>
            <a:ext cx="4206240" cy="5029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Multi-task learning (Sprint 6)</a:t>
            </a:r>
            <a:endParaRPr lang="en-US" sz="2000" dirty="0"/>
          </a:p>
        </p:txBody>
      </p:sp>
      <p:sp>
        <p:nvSpPr>
          <p:cNvPr id="6" name="Text 4"/>
          <p:cNvSpPr txBox="1"/>
          <p:nvPr/>
        </p:nvSpPr>
        <p:spPr>
          <a:xfrm>
            <a:off x="1554480" y="2240280"/>
            <a:ext cx="420624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One shared model with a head for each task. Test for negative transfer, and fix it if it appears</a:t>
            </a:r>
            <a:endParaRPr lang="en-US" sz="1500" dirty="0"/>
          </a:p>
        </p:txBody>
      </p:sp>
      <p:sp>
        <p:nvSpPr>
          <p:cNvPr id="7" name="Next card 2"/>
          <p:cNvSpPr/>
          <p:nvPr/>
        </p:nvSpPr>
        <p:spPr>
          <a:xfrm>
            <a:off x="6199632" y="1371600"/>
            <a:ext cx="5440680" cy="1783080"/>
          </a:xfrm>
          <a:prstGeom prst="roundRect">
            <a:avLst>
              <a:gd name="adj" fmla="val 6154"/>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8" name="Next number 2"/>
          <p:cNvSpPr txBox="1"/>
          <p:nvPr/>
        </p:nvSpPr>
        <p:spPr>
          <a:xfrm>
            <a:off x="6473952" y="1645920"/>
            <a:ext cx="502920" cy="50292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7205472" y="1645920"/>
            <a:ext cx="4206240" cy="5029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First, a known weakness</a:t>
            </a:r>
            <a:endParaRPr lang="en-US" sz="2000" dirty="0"/>
          </a:p>
        </p:txBody>
      </p:sp>
      <p:sp>
        <p:nvSpPr>
          <p:cNvPr id="10" name="Text 8"/>
          <p:cNvSpPr txBox="1"/>
          <p:nvPr/>
        </p:nvSpPr>
        <p:spPr>
          <a:xfrm>
            <a:off x="7205472" y="2240280"/>
            <a:ext cx="420624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model predicts the worst sounds as almost fine. A loss that re-weights low scores is the planned fix</a:t>
            </a:r>
            <a:endParaRPr lang="en-US" sz="1500" dirty="0"/>
          </a:p>
        </p:txBody>
      </p:sp>
      <p:sp>
        <p:nvSpPr>
          <p:cNvPr id="11" name="Next card 3"/>
          <p:cNvSpPr/>
          <p:nvPr/>
        </p:nvSpPr>
        <p:spPr>
          <a:xfrm>
            <a:off x="548640" y="3383280"/>
            <a:ext cx="5440680" cy="1783080"/>
          </a:xfrm>
          <a:prstGeom prst="roundRect">
            <a:avLst>
              <a:gd name="adj" fmla="val 6154"/>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12" name="Next number 3"/>
          <p:cNvSpPr txBox="1"/>
          <p:nvPr/>
        </p:nvSpPr>
        <p:spPr>
          <a:xfrm>
            <a:off x="822960" y="3657600"/>
            <a:ext cx="502920" cy="50292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554480" y="3657600"/>
            <a:ext cx="4206240" cy="5029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Unseen speakers (Sprint 8)</a:t>
            </a:r>
            <a:endParaRPr lang="en-US" sz="2000" dirty="0"/>
          </a:p>
        </p:txBody>
      </p:sp>
      <p:sp>
        <p:nvSpPr>
          <p:cNvPr id="14" name="Text 12"/>
          <p:cNvSpPr txBox="1"/>
          <p:nvPr/>
        </p:nvSpPr>
        <p:spPr>
          <a:xfrm>
            <a:off x="1554480" y="4251960"/>
            <a:ext cx="420624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Evaluate on speakers the model has never heard, broken down by language background, with ablations</a:t>
            </a:r>
            <a:endParaRPr lang="en-US" sz="1500" dirty="0"/>
          </a:p>
        </p:txBody>
      </p:sp>
      <p:sp>
        <p:nvSpPr>
          <p:cNvPr id="15" name="Next card 4"/>
          <p:cNvSpPr/>
          <p:nvPr/>
        </p:nvSpPr>
        <p:spPr>
          <a:xfrm>
            <a:off x="6199632" y="3383280"/>
            <a:ext cx="5440680" cy="1783080"/>
          </a:xfrm>
          <a:prstGeom prst="roundRect">
            <a:avLst>
              <a:gd name="adj" fmla="val 6154"/>
            </a:avLst>
          </a:prstGeom>
          <a:solidFill>
            <a:schemeClr val="bg1"/>
          </a:solidFill>
          <a:ln w="9525">
            <a:solidFill>
              <a:srgbClr val="E6E5E1"/>
            </a:solidFill>
            <a:prstDash val="solid"/>
          </a:ln>
          <a:effectLst>
            <a:outerShdw sx="100000" sy="100000" kx="0" ky="0" algn="bl" rotWithShape="0" blurRad="101600" dist="25400" dir="5400000">
              <a:srgbClr val="000000">
                <a:alpha val="12000"/>
              </a:srgbClr>
            </a:outerShdw>
          </a:effectLst>
        </p:spPr>
      </p:sp>
      <p:sp>
        <p:nvSpPr>
          <p:cNvPr id="16" name="Next number 4"/>
          <p:cNvSpPr txBox="1"/>
          <p:nvPr/>
        </p:nvSpPr>
        <p:spPr>
          <a:xfrm>
            <a:off x="6473952" y="3657600"/>
            <a:ext cx="502920" cy="50292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7205472" y="3657600"/>
            <a:ext cx="4206240" cy="5029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Web app (Sprint 9)</a:t>
            </a:r>
            <a:endParaRPr lang="en-US" sz="2000" dirty="0"/>
          </a:p>
        </p:txBody>
      </p:sp>
      <p:sp>
        <p:nvSpPr>
          <p:cNvPr id="18" name="Text 16"/>
          <p:cNvSpPr txBox="1"/>
          <p:nvPr/>
        </p:nvSpPr>
        <p:spPr>
          <a:xfrm>
            <a:off x="7205472" y="4251960"/>
            <a:ext cx="420624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React app with color-coded feedback on each word and sound</a:t>
            </a:r>
            <a:endParaRPr lang="en-US" sz="1500" dirty="0"/>
          </a:p>
        </p:txBody>
      </p:sp>
      <p:sp>
        <p:nvSpPr>
          <p:cNvPr id="19" name="Text 17"/>
          <p:cNvSpPr txBox="1"/>
          <p:nvPr/>
        </p:nvSpPr>
        <p:spPr>
          <a:xfrm>
            <a:off x="548640" y="5532120"/>
            <a:ext cx="2926080" cy="548640"/>
          </a:xfrm>
          <a:prstGeom prst="rect">
            <a:avLst/>
          </a:prstGeom>
          <a:noFill/>
          <a:ln/>
        </p:spPr>
        <p:txBody>
          <a:bodyPr wrap="square" lIns="0" tIns="0" rIns="0" bIns="0" rtlCol="0" anchor="ctr"/>
          <a:lstStyle/>
          <a:p>
            <a:pPr indent="0" marL="0">
              <a:buNone/>
            </a:pPr>
            <a:r>
              <a:rPr lang="en-US" sz="1600" dirty="0">
                <a:solidFill>
                  <a:schemeClr val="accent5"/>
                </a:solidFill>
                <a:latin typeface="Calibri" pitchFamily="34" charset="0"/>
                <a:ea typeface="Calibri" pitchFamily="34" charset="-122"/>
                <a:cs typeface="Calibri" pitchFamily="34" charset="-120"/>
              </a:rPr>
              <a:t>Feedback preview (mockup):</a:t>
            </a:r>
            <a:endParaRPr lang="en-US" sz="1600" dirty="0"/>
          </a:p>
        </p:txBody>
      </p:sp>
      <p:sp>
        <p:nvSpPr>
          <p:cNvPr id="20" name="Mockup word 1"/>
          <p:cNvSpPr txBox="1"/>
          <p:nvPr/>
        </p:nvSpPr>
        <p:spPr>
          <a:xfrm>
            <a:off x="3200400" y="5532120"/>
            <a:ext cx="1645920" cy="548640"/>
          </a:xfrm>
          <a:prstGeom prst="roundRect">
            <a:avLst>
              <a:gd name="adj" fmla="val 50000"/>
            </a:avLst>
          </a:prstGeom>
          <a:solidFill>
            <a:srgbClr val="BFE8D5"/>
          </a:solidFill>
          <a:ln/>
        </p:spPr>
        <p:txBody>
          <a:bodyPr wrap="square" lIns="0" tIns="0" rIns="0" bIns="0" rtlCol="0" anchor="ctr"/>
          <a:lstStyle/>
          <a:p>
            <a:pPr algn="ctr" indent="0" marL="0">
              <a:buNone/>
            </a:pPr>
            <a:r>
              <a:rPr lang="en-US" sz="1800" b="1" dirty="0">
                <a:solidFill>
                  <a:schemeClr val="tx1"/>
                </a:solidFill>
              </a:rPr>
              <a:t>She</a:t>
            </a:r>
            <a:endParaRPr lang="en-US" sz="1800" dirty="0"/>
          </a:p>
        </p:txBody>
      </p:sp>
      <p:sp>
        <p:nvSpPr>
          <p:cNvPr id="21" name="Mockup word 2"/>
          <p:cNvSpPr txBox="1"/>
          <p:nvPr/>
        </p:nvSpPr>
        <p:spPr>
          <a:xfrm>
            <a:off x="5120640" y="5532120"/>
            <a:ext cx="1645920" cy="548640"/>
          </a:xfrm>
          <a:prstGeom prst="roundRect">
            <a:avLst>
              <a:gd name="adj" fmla="val 50000"/>
            </a:avLst>
          </a:prstGeom>
          <a:solidFill>
            <a:srgbClr val="FBE3A6"/>
          </a:solidFill>
          <a:ln/>
        </p:spPr>
        <p:txBody>
          <a:bodyPr wrap="square" lIns="0" tIns="0" rIns="0" bIns="0" rtlCol="0" anchor="ctr"/>
          <a:lstStyle/>
          <a:p>
            <a:pPr algn="ctr" indent="0" marL="0">
              <a:buNone/>
            </a:pPr>
            <a:r>
              <a:rPr lang="en-US" sz="1800" b="1" dirty="0">
                <a:solidFill>
                  <a:schemeClr val="tx1"/>
                </a:solidFill>
              </a:rPr>
              <a:t>sells</a:t>
            </a:r>
            <a:endParaRPr lang="en-US" sz="1800" dirty="0"/>
          </a:p>
        </p:txBody>
      </p:sp>
      <p:sp>
        <p:nvSpPr>
          <p:cNvPr id="22" name="Mockup word 3"/>
          <p:cNvSpPr txBox="1"/>
          <p:nvPr/>
        </p:nvSpPr>
        <p:spPr>
          <a:xfrm>
            <a:off x="7040880" y="5532120"/>
            <a:ext cx="2011680" cy="548640"/>
          </a:xfrm>
          <a:prstGeom prst="roundRect">
            <a:avLst>
              <a:gd name="adj" fmla="val 50000"/>
            </a:avLst>
          </a:prstGeom>
          <a:solidFill>
            <a:srgbClr val="F6C1C0"/>
          </a:solidFill>
          <a:ln/>
        </p:spPr>
        <p:txBody>
          <a:bodyPr wrap="square" lIns="0" tIns="0" rIns="0" bIns="0" rtlCol="0" anchor="ctr"/>
          <a:lstStyle/>
          <a:p>
            <a:pPr algn="ctr" indent="0" marL="0">
              <a:buNone/>
            </a:pPr>
            <a:r>
              <a:rPr lang="en-US" sz="1800" b="1" dirty="0">
                <a:solidFill>
                  <a:schemeClr val="tx1"/>
                </a:solidFill>
              </a:rPr>
              <a:t>seashells</a:t>
            </a:r>
            <a:endParaRPr lang="en-US" sz="1800" dirty="0"/>
          </a:p>
        </p:txBody>
      </p:sp>
      <p:sp>
        <p:nvSpPr>
          <p:cNvPr id="23" name="Text 21"/>
          <p:cNvSpPr txBox="1"/>
          <p:nvPr/>
        </p:nvSpPr>
        <p:spPr>
          <a:xfrm>
            <a:off x="9144000" y="5532120"/>
            <a:ext cx="2468880" cy="548640"/>
          </a:xfrm>
          <a:prstGeom prst="rect">
            <a:avLst/>
          </a:prstGeom>
          <a:noFill/>
          <a:ln/>
        </p:spPr>
        <p:txBody>
          <a:bodyPr wrap="square" lIns="0" tIns="0" rIns="0" bIns="0" rtlCol="0" anchor="ctr"/>
          <a:lstStyle/>
          <a:p>
            <a:pPr algn="r" indent="0" marL="0">
              <a:buNone/>
            </a:pPr>
            <a:r>
              <a:rPr lang="en-US" sz="1200" dirty="0">
                <a:solidFill>
                  <a:schemeClr val="accent5"/>
                </a:solidFill>
                <a:latin typeface="Calibri" pitchFamily="34" charset="0"/>
                <a:ea typeface="Calibri" pitchFamily="34" charset="-122"/>
                <a:cs typeface="Calibri" pitchFamily="34" charset="-120"/>
              </a:rPr>
              <a:t>green = good, amber = close, red = needs work</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ESL Pronunciation Midterm">
  <a:themeElements>
    <a:clrScheme name="ESL Pronunciation Midterm">
      <a:dk1>
        <a:srgbClr val="0B0B0B"/>
      </a:dk1>
      <a:lt1>
        <a:srgbClr val="FFFFFF"/>
      </a:lt1>
      <a:dk2>
        <a:srgbClr val="0F1E3D"/>
      </a:dk2>
      <a:lt2>
        <a:srgbClr val="FCFCFB"/>
      </a:lt2>
      <a:accent1>
        <a:srgbClr val="2A78D6"/>
      </a:accent1>
      <a:accent2>
        <a:srgbClr val="EB6834"/>
      </a:accent2>
      <a:accent3>
        <a:srgbClr val="1BAF7A"/>
      </a:accent3>
      <a:accent4>
        <a:srgbClr val="EDA100"/>
      </a:accent4>
      <a:accent5>
        <a:srgbClr val="52514E"/>
      </a:accent5>
      <a:accent6>
        <a:srgbClr val="6250D6"/>
      </a:accent6>
      <a:hlink>
        <a:srgbClr val="2A78D6"/>
      </a:hlink>
      <a:folHlink>
        <a:srgbClr val="6250D6"/>
      </a:folHlink>
    </a:clrScheme>
    <a:fontScheme name="ESL Pronunciation Midte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for Multi-Level ESL Pronunciation Assessment: Midterm Progress</dc:title>
  <dc:subject>PptxGenJS Presentation</dc:subject>
  <dc:creator>PptxGenJS</dc:creator>
  <cp:lastModifiedBy>PptxGenJS</cp:lastModifiedBy>
  <cp:revision>1</cp:revision>
  <dcterms:created xsi:type="dcterms:W3CDTF">2026-10-24T00:14:11Z</dcterms:created>
  <dcterms:modified xsi:type="dcterms:W3CDTF">2026-10-24T00:14:11Z</dcterms:modified>
</cp:coreProperties>
</file>